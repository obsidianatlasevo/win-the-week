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UPDATE THIS SLIDE
- Change a price: click the cell and type. Empty cells are pre-formatted, so new prices match automatically.
- Highlight a price: select the cell &gt; Table Design &gt; Shading &gt; pick from the top "Theme Colors" row (red = Price change, green = Bundle &amp; save, purple = BBY+ / Total member deal). On red or purple, also set Font Color to white.
- Remove a highlight: Shading &gt; No Fill, and set Font Color back to the dark default.
- Add a model: click a row &gt; Layout &gt; Insert Above/Below. Delete a row: Layout &gt; Delete &gt; Delete Rows.
- QNED74B prices are TBD. Type over "TBD" in the 43, 50, 75 and 85 inch cells.
WIN THE WEEK — Best Buy exclusive promotions. Week of September 28, 2026.
SOURCE PROMOTIONS: SAVE when purchasing a qualifying OLED or QNED TV 55"+ with select soundbars. S95AR save $200. SC9S save $200. S90TR save $100. S90TY save $100. S70TR save $50. FREE Install &amp; Delivery, 97–100 inches.
HIGHLIGHT KEY: Price Change #FF0000. Bundle &amp; Save #00C07A. BBY+ / Total Member Deal #B060FF.
Prices subject to change. For internal Best Buy use only.
SOURCE CONTENT:
WIN THE WEEK
WEEK OF 09/07
BEST BUY | EXCLUSIVE PROMOTIONS
BUNDLE &amp; SAVE
SAVE when purchasing a qualifying OLED or QNED TV 55"+ with select soundbars
S95AR
Save $200
SC9S
Save $200
S90TR
Save $100
S90TY
Save $100
S70TR
Save $50
FREE Install
&amp; Delivery | 97”-100”
UHD
QNED
OLED
AUDIO
MONITORS
LX7B
MRG95
NU700B
43"
$229
50"
$249
55"
$299
65"
$379
75"
$549
85"
$749
NU85
55"
$329
65"
$399
75"
$499
85"
$799
98"
$1499
QNED75B
43"
$299
50"
$349
55"
$379
65"
$479
75"
$649
85"
$999
QNED7S
55"
$349
65"
$459
75"
$599
QNED84B
55"
$599
65"
$679
75"
$949
85"
$1399
100"
$3299
B6
48"
$799
65"
$1199
77"
$2199
83"
$3499
C6 / C6H
42"
$1099
48"
$1199
55"
$1399
65"
$1499
77"
$2499
83"
$3999
G6
$2099
55” / 65"
$2799
77"
$3799
83"
$5999
97"
$19999
W6
77"
$4499
83"
$6499
Soundbars
S95AR 9.1.5
$1,199
S90TR 7.1.3
$751
S90TY 5.1.3
$599
S70TR 5.1.1
$499
S60TR 5.1
$249
SC9S 3.1.3
$699
S35A 2.1
$149
S20A 2.0
$119
Sound Suite
Sound Suite H7
$899
Sound Suite W7
$549
Sound Suite M7
$349
Sound Suite M5
$229
LG UltraGear OLED
45GX90SA
$999
45GX950A
$1,299
339GX950B-B
$1599
32GX970A-B
$999
27GX790A-B
$679
55" $699
65" $1099
75" $3799
86" $5499
100" $6999
*Prices Subject to Change | For Internal Best Buy Use Only
Price Change
Bundle &amp; Save
BBY+ / Total Member Deal
QNED91A / 55” $699 / 65” $799 / 75” $1049 / 85” $1499 / QNED92B / 115” $12999
B6E / 55” $899 / 65” $999 / 77” $1699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005840" cy="566928"/>
          </a:xfrm>
          <a:prstGeom prst="roundRect">
            <a:avLst>
              <a:gd name="adj" fmla="val 12903"/>
            </a:avLst>
          </a:prstGeom>
          <a:solidFill>
            <a:srgbClr val="A50034"/>
          </a:solidFill>
          <a:ln/>
        </p:spPr>
      </p:sp>
      <p:pic>
        <p:nvPicPr>
          <p:cNvPr id="3" name="Image 0" descr="L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365760"/>
            <a:ext cx="786384" cy="4178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23774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THE WEEK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320040" y="914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A50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BUY EXCLUSIVE PROMOTIONS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9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September 28, 2026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303520" y="274320"/>
            <a:ext cx="4892040" cy="1188720"/>
          </a:xfrm>
          <a:prstGeom prst="roundRect">
            <a:avLst>
              <a:gd name="adj" fmla="val 7692"/>
            </a:avLst>
          </a:prstGeom>
          <a:solidFill>
            <a:srgbClr val="F5F5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40680" y="33832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50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&amp; SAVE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9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OLED or QNED TV 55″+ with select soundbars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40680" y="841248"/>
            <a:ext cx="1478280" cy="347472"/>
          </a:xfrm>
          <a:prstGeom prst="roundRect">
            <a:avLst>
              <a:gd name="adj" fmla="val 15789"/>
            </a:avLst>
          </a:prstGeom>
          <a:solidFill>
            <a:srgbClr val="00C0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9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$200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1197864"/>
            <a:ext cx="147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S95AR / SC9S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10400" y="841248"/>
            <a:ext cx="1478280" cy="347472"/>
          </a:xfrm>
          <a:prstGeom prst="roundRect">
            <a:avLst>
              <a:gd name="adj" fmla="val 15789"/>
            </a:avLst>
          </a:prstGeom>
          <a:solidFill>
            <a:srgbClr val="00C0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9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$100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010400" y="1197864"/>
            <a:ext cx="147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S90TR / S90TY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580120" y="841248"/>
            <a:ext cx="1478280" cy="347472"/>
          </a:xfrm>
          <a:prstGeom prst="roundRect">
            <a:avLst>
              <a:gd name="adj" fmla="val 15789"/>
            </a:avLst>
          </a:prstGeom>
          <a:solidFill>
            <a:srgbClr val="00C0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9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$50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580120" y="1197864"/>
            <a:ext cx="147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S70TR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0332720" y="274320"/>
            <a:ext cx="1538935" cy="1188720"/>
          </a:xfrm>
          <a:prstGeom prst="roundRect">
            <a:avLst>
              <a:gd name="adj" fmla="val 7692"/>
            </a:avLst>
          </a:prstGeom>
          <a:solidFill>
            <a:srgbClr val="F5F5F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442448" y="347472"/>
            <a:ext cx="1319479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50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6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9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delivery</a:t>
            </a:r>
            <a:endParaRPr lang="en-US" sz="2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26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97″–100″ TVs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320040" y="1591056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A50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</a:t>
            </a:r>
            <a:endParaRPr lang="en-US" sz="1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11096"/>
          <a:ext cx="77266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927463"/>
                <a:gridCol w="927463"/>
                <a:gridCol w="927463"/>
                <a:gridCol w="927463"/>
                <a:gridCol w="927463"/>
                <a:gridCol w="927463"/>
                <a:gridCol w="927463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D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42″</a:t>
                      </a:r>
                      <a:endParaRPr lang="en-US" sz="13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D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48″</a:t>
                      </a:r>
                      <a:endParaRPr lang="en-US" sz="13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D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55″</a:t>
                      </a:r>
                      <a:endParaRPr lang="en-US" sz="13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D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65″</a:t>
                      </a:r>
                      <a:endParaRPr lang="en-US" sz="13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D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77″</a:t>
                      </a:r>
                      <a:endParaRPr lang="en-US" sz="13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D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83″</a:t>
                      </a:r>
                      <a:endParaRPr lang="en-US" sz="13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D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97″</a:t>
                      </a:r>
                      <a:endParaRPr lang="en-US" sz="13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DF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B6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60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$3,499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B6E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 / C6H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$1,149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$4,299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G6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$3,799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$5,499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$19,999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W6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$4,299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$5,999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320040" y="341071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A50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UHD / QNED / SPECIALTY TVs</a:t>
            </a:r>
            <a:endParaRPr lang="en-US" sz="17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30752"/>
          <a:ext cx="77266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94944"/>
                <a:gridCol w="694944"/>
                <a:gridCol w="694944"/>
                <a:gridCol w="694944"/>
                <a:gridCol w="694944"/>
                <a:gridCol w="694944"/>
                <a:gridCol w="2322576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D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43″</a:t>
                      </a:r>
                      <a:endParaRPr lang="en-US" sz="13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D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50″</a:t>
                      </a:r>
                      <a:endParaRPr lang="en-US" sz="13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D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55″</a:t>
                      </a:r>
                      <a:endParaRPr lang="en-US" sz="13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D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65″</a:t>
                      </a:r>
                      <a:endParaRPr lang="en-US" sz="13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D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75″</a:t>
                      </a:r>
                      <a:endParaRPr lang="en-US" sz="13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D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85″</a:t>
                      </a:r>
                      <a:endParaRPr lang="en-US" sz="13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D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sizes</a:t>
                      </a:r>
                      <a:endParaRPr lang="en-US" sz="13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DF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NU700B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NU85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98″  $1,499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QNED74B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QNED75B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$949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QNED7S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QNED84B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100″  $3,299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QNED91A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$1,049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QNED92B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115″  $12,999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LX7B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MRG95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$3,599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86″  $5,299    100″  $6,999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5"/>
          <p:cNvSpPr txBox="1"/>
          <p:nvPr/>
        </p:nvSpPr>
        <p:spPr>
          <a:xfrm>
            <a:off x="8321040" y="1591056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A50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SOUNDBARS</a:t>
            </a:r>
            <a:endParaRPr lang="en-US" sz="17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1911096"/>
          <a:ext cx="355061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14400"/>
                <a:gridCol w="1218895"/>
              </a:tblGrid>
              <a:tr h="202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S95AR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9.1.5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2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S90TR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7.1.3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2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S90TY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5.1.3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2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S70TR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5.1.1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02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S60TR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02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SC9S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3.1.3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2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S35A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2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S20A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26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22" name="Text 16"/>
          <p:cNvSpPr txBox="1"/>
          <p:nvPr/>
        </p:nvSpPr>
        <p:spPr>
          <a:xfrm>
            <a:off x="8321040" y="3657062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A50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SUITE</a:t>
            </a:r>
            <a:endParaRPr lang="en-US" sz="170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3977102"/>
          <a:ext cx="3550615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218895"/>
              </a:tblGrid>
              <a:tr h="202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H7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2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W7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2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M7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2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17"/>
          <p:cNvSpPr txBox="1"/>
          <p:nvPr/>
        </p:nvSpPr>
        <p:spPr>
          <a:xfrm>
            <a:off x="8321040" y="4914093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A50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ULTRAGEAR OLED</a:t>
            </a:r>
            <a:endParaRPr lang="en-US" sz="1700" dirty="0"/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5234133"/>
          <a:ext cx="3550615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218895"/>
              </a:tblGrid>
              <a:tr h="202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45GX90SB-B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2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45GX950A-B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2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39GX950B-B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02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32GX850A-B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2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91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27GM950B-B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54864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$799</a:t>
                      </a:r>
                      <a:endParaRPr lang="en-US" sz="1400" dirty="0">
                        <a:solidFill>
                          <a:srgbClr val="19191E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82296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26" name="Text 18"/>
          <p:cNvSpPr txBox="1"/>
          <p:nvPr/>
        </p:nvSpPr>
        <p:spPr>
          <a:xfrm>
            <a:off x="3200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26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822960" y="6382512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1298448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change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2761488" y="6382512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00C07A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3236976" y="6355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&amp; save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4837176" y="6382512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B060FF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5312664" y="6355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BBY+ / Total member deal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in The Week">
      <a:dk1>
        <a:sysClr val="windowText" lastClr="000000"/>
      </a:dk1>
      <a:lt1>
        <a:sysClr val="window" lastClr="FFFFFF"/>
      </a:lt1>
      <a:dk2>
        <a:srgbClr val="19191E"/>
      </a:dk2>
      <a:lt2>
        <a:srgbClr val="E7E6E6"/>
      </a:lt2>
      <a:accent1>
        <a:srgbClr val="FF0000"/>
      </a:accent1>
      <a:accent2>
        <a:srgbClr val="00C07A"/>
      </a:accent2>
      <a:accent3>
        <a:srgbClr val="B060FF"/>
      </a:accent3>
      <a:accent4>
        <a:srgbClr val="A50034"/>
      </a:accent4>
      <a:accent5>
        <a:srgbClr val="62626B"/>
      </a:accent5>
      <a:accent6>
        <a:srgbClr val="EDEDF0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rice change">
      <a:srgbClr val="FF0000"/>
    </a:custClr>
    <a:custClr name="Bundle &amp; save">
      <a:srgbClr val="00C07A"/>
    </a:custClr>
    <a:custClr name="BBY+ / Total member deal">
      <a:srgbClr val="B060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 The Week</dc:title>
  <dc:subject>PptxGenJS Presentation</dc:subject>
  <dc:creator>PptxGenJS</dc:creator>
  <cp:lastModifiedBy>PptxGenJS</cp:lastModifiedBy>
  <cp:revision>1</cp:revision>
  <dcterms:created xsi:type="dcterms:W3CDTF">2026-09-29T15:30:22Z</dcterms:created>
  <dcterms:modified xsi:type="dcterms:W3CDTF">2026-09-29T15:30:22Z</dcterms:modified>
</cp:coreProperties>
</file>