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LG / Best Buy featured bundle: 83" LG G6 OLED evo AI + 2x LG M7 wireless speakers.
MATH CHECK
- TV $5,499.99 + M7 pair $399.99 (pay for 1) = $5,899.98
- + first-year My Best Buy Total $199.99 = $6,099.97 before tax
- $6,099.97 / 24 = $254.17/mo. financing illustration
- Savings: $1,000 off TV + $399.99 free M7 = $1,399.99
Confirm current cart pricing, free M7 eligibility, membership, financing eligibility and installation scope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eatured produ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Best Bu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822960" cy="49281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444752" y="384048"/>
            <a:ext cx="0" cy="457200"/>
          </a:xfrm>
          <a:prstGeom prst="line">
            <a:avLst/>
          </a:prstGeom>
          <a:noFill/>
          <a:ln w="12700">
            <a:solidFill>
              <a:srgbClr val="4A4A56"/>
            </a:solidFill>
            <a:prstDash val="solid"/>
          </a:ln>
        </p:spPr>
      </p:sp>
      <p:pic>
        <p:nvPicPr>
          <p:cNvPr id="5" name="Image 2" descr="L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429768"/>
            <a:ext cx="859536" cy="40954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2788920" y="3108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FEATURED BUNDLE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2788920" y="50292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 HOME THEATER BUNDLE</a:t>
            </a:r>
            <a:endParaRPr lang="en-US" sz="3200" dirty="0"/>
          </a:p>
        </p:txBody>
      </p:sp>
      <p:sp>
        <p:nvSpPr>
          <p:cNvPr id="8" name="Text 3"/>
          <p:cNvSpPr txBox="1"/>
          <p:nvPr/>
        </p:nvSpPr>
        <p:spPr>
          <a:xfrm>
            <a:off x="2788920" y="9784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83-inch G6 OLED + two M7 wireless speakers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144768" y="1572768"/>
            <a:ext cx="1810512" cy="585216"/>
          </a:xfrm>
          <a:prstGeom prst="roundRect">
            <a:avLst>
              <a:gd name="adj" fmla="val 50000"/>
            </a:avLst>
          </a:prstGeom>
          <a:solidFill>
            <a:srgbClr val="FFE000"/>
          </a:solidFill>
          <a:ln/>
          <a:effectLst>
            <a:outerShdw sx="100000" sy="100000" kx="0" ky="0" algn="bl" rotWithShape="0" blurRad="127000" dist="38100" dir="540000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M7 is FREE</a:t>
            </a:r>
            <a:endParaRPr lang="en-US" sz="17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83" G6 purchase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457200" y="4352544"/>
            <a:ext cx="4206240" cy="1847088"/>
          </a:xfrm>
          <a:prstGeom prst="roundRect">
            <a:avLst>
              <a:gd name="adj" fmla="val 5941"/>
            </a:avLst>
          </a:prstGeom>
          <a:solidFill>
            <a:srgbClr val="16161F">
              <a:alpha val="92000"/>
            </a:srgbClr>
          </a:solidFill>
          <a:ln w="9525">
            <a:solidFill>
              <a:srgbClr val="34343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45079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TV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685800" y="47000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83" LG G6 OLED evo AI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65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Smart TV with Gallery Design + Flush Wall Mount (2026)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486400"/>
            <a:ext cx="19426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$5,499.99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2683307" y="5541264"/>
            <a:ext cx="1129284" cy="256032"/>
          </a:xfrm>
          <a:prstGeom prst="roundRect">
            <a:avLst>
              <a:gd name="adj" fmla="val 50000"/>
            </a:avLst>
          </a:prstGeom>
          <a:solidFill>
            <a:srgbClr val="FFE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$1,000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2683307" y="5824728"/>
            <a:ext cx="17515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Comp. value $6,499.99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92040" y="4352544"/>
            <a:ext cx="3108960" cy="1847088"/>
          </a:xfrm>
          <a:prstGeom prst="roundRect">
            <a:avLst>
              <a:gd name="adj" fmla="val 5941"/>
            </a:avLst>
          </a:prstGeom>
          <a:solidFill>
            <a:srgbClr val="16161F">
              <a:alpha val="92000"/>
            </a:srgbClr>
          </a:solidFill>
          <a:ln w="9525">
            <a:solidFill>
              <a:srgbClr val="34343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120640" y="45079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SPEAKER DEAL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4700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LG M7 speakers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50657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+ Dolby Atmos wireless spatial speakers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120640" y="5486400"/>
            <a:ext cx="15965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$399.99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6772046" y="5541264"/>
            <a:ext cx="973836" cy="256032"/>
          </a:xfrm>
          <a:prstGeom prst="roundRect">
            <a:avLst>
              <a:gd name="adj" fmla="val 50000"/>
            </a:avLst>
          </a:prstGeom>
          <a:solidFill>
            <a:srgbClr val="FFE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1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772046" y="5824728"/>
            <a:ext cx="1000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speakers total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94860" y="5093208"/>
            <a:ext cx="365760" cy="365760"/>
          </a:xfrm>
          <a:prstGeom prst="ellipse">
            <a:avLst/>
          </a:prstGeom>
          <a:solidFill>
            <a:srgbClr val="07070B"/>
          </a:solidFill>
          <a:ln w="12700">
            <a:solidFill>
              <a:srgbClr val="5A5A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275320" y="365760"/>
            <a:ext cx="3459175" cy="5833872"/>
          </a:xfrm>
          <a:prstGeom prst="roundRect">
            <a:avLst>
              <a:gd name="adj" fmla="val 4229"/>
            </a:avLst>
          </a:prstGeom>
          <a:solidFill>
            <a:srgbClr val="16161F">
              <a:alpha val="96000"/>
            </a:srgbClr>
          </a:solidFill>
          <a:ln w="9525">
            <a:solidFill>
              <a:srgbClr val="34343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955280" y="5093208"/>
            <a:ext cx="365760" cy="365760"/>
          </a:xfrm>
          <a:prstGeom prst="ellipse">
            <a:avLst/>
          </a:prstGeom>
          <a:solidFill>
            <a:srgbClr val="07070B"/>
          </a:solidFill>
          <a:ln w="12700">
            <a:solidFill>
              <a:srgbClr val="5A5A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549640" y="640080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WITH TOTAL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8549640" y="896112"/>
            <a:ext cx="29105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$6,099.97</a:t>
            </a:r>
            <a:endParaRPr lang="en-US" sz="4800" dirty="0"/>
          </a:p>
        </p:txBody>
      </p:sp>
      <p:sp>
        <p:nvSpPr>
          <p:cNvPr id="29" name="Text 24"/>
          <p:cNvSpPr txBox="1"/>
          <p:nvPr/>
        </p:nvSpPr>
        <p:spPr>
          <a:xfrm>
            <a:off x="8549640" y="1682496"/>
            <a:ext cx="2910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tax. Includes first year.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549640" y="2066544"/>
            <a:ext cx="2910535" cy="0"/>
          </a:xfrm>
          <a:prstGeom prst="line">
            <a:avLst/>
          </a:prstGeom>
          <a:noFill/>
          <a:ln w="12700">
            <a:solidFill>
              <a:srgbClr val="34343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549640" y="2212848"/>
            <a:ext cx="1721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+ 2 M7 speakers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180015" y="2212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$5,899.98</a:t>
            </a:r>
            <a:endParaRPr lang="en-US" sz="1700" dirty="0"/>
          </a:p>
        </p:txBody>
      </p:sp>
      <p:sp>
        <p:nvSpPr>
          <p:cNvPr id="33" name="Text 28"/>
          <p:cNvSpPr txBox="1"/>
          <p:nvPr/>
        </p:nvSpPr>
        <p:spPr>
          <a:xfrm>
            <a:off x="8549640" y="2542032"/>
            <a:ext cx="1721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membership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0180015" y="2542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$199.99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549640" y="2871216"/>
            <a:ext cx="2910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$199.99/year. Auto-renews until canceled.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8458200" y="3447288"/>
            <a:ext cx="3093415" cy="786384"/>
          </a:xfrm>
          <a:prstGeom prst="roundRect">
            <a:avLst>
              <a:gd name="adj" fmla="val 11628"/>
            </a:avLst>
          </a:prstGeom>
          <a:solidFill>
            <a:srgbClr val="FFE000">
              <a:alpha val="12000"/>
            </a:srgbClr>
          </a:solidFill>
          <a:ln w="9525">
            <a:solidFill>
              <a:srgbClr val="FFE000">
                <a:alpha val="4500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622792" y="3520440"/>
            <a:ext cx="27642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$1,399.99</a:t>
            </a:r>
            <a:pPr indent="0" marL="0">
              <a:buNone/>
            </a:pPr>
            <a:r>
              <a:rPr lang="en-US" sz="1300" b="1" dirty="0">
                <a:solidFill>
                  <a:srgbClr val="FFE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combined savings</a:t>
            </a:r>
            <a:endParaRPr lang="en-US" sz="2600" dirty="0"/>
          </a:p>
        </p:txBody>
      </p:sp>
      <p:sp>
        <p:nvSpPr>
          <p:cNvPr id="38" name="Text 33"/>
          <p:cNvSpPr txBox="1"/>
          <p:nvPr/>
        </p:nvSpPr>
        <p:spPr>
          <a:xfrm>
            <a:off x="8622792" y="3922776"/>
            <a:ext cx="2764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TV + free M7 value</a:t>
            </a:r>
            <a:endParaRPr lang="en-US" sz="1250" dirty="0"/>
          </a:p>
        </p:txBody>
      </p:sp>
      <p:sp>
        <p:nvSpPr>
          <p:cNvPr id="39" name="Text 34"/>
          <p:cNvSpPr txBox="1"/>
          <p:nvPr/>
        </p:nvSpPr>
        <p:spPr>
          <a:xfrm>
            <a:off x="8549640" y="4590288"/>
            <a:ext cx="2910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5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FINANCING ESTIMATE*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8549640" y="4809744"/>
            <a:ext cx="2910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$254.17</a:t>
            </a:r>
            <a:pPr indent="0" marL="0">
              <a:buNone/>
            </a:pPr>
            <a:r>
              <a:rPr lang="en-US" sz="18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/mo.*</a:t>
            </a:r>
            <a:endParaRPr lang="en-US" sz="4400" dirty="0"/>
          </a:p>
        </p:txBody>
      </p:sp>
      <p:sp>
        <p:nvSpPr>
          <p:cNvPr id="41" name="Text 36"/>
          <p:cNvSpPr txBox="1"/>
          <p:nvPr/>
        </p:nvSpPr>
        <p:spPr>
          <a:xfrm>
            <a:off x="8549640" y="5468112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full $6,099.97 purchase qualifies.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9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My Best Buy® Credit Card.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457200" y="6336792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C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offers subject to change. Confirm current cart pricing, free M7 promotional eligibility, membership, financing eligibility and installation eligibility before presenting.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C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*Illustration: $6,099.97 ÷ 24 ≈ $254.17. Full-purchase eligibility and credit approval required. No interest if paid in full within 24 months.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C8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interest is charged from the purchase date. Minimum monthly payments required. †Confirm 83" G6 eligibility, installation scope and current offer dates.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HOME THEATER BUNDLE</dc:title>
  <dc:subject>PptxGenJS Presentation</dc:subject>
  <dc:creator>PptxGenJS</dc:creator>
  <cp:lastModifiedBy>PptxGenJS</cp:lastModifiedBy>
  <cp:revision>1</cp:revision>
  <dcterms:created xsi:type="dcterms:W3CDTF">2026-09-29T15:51:24Z</dcterms:created>
  <dcterms:modified xsi:type="dcterms:W3CDTF">2026-09-29T15:51:24Z</dcterms:modified>
</cp:coreProperties>
</file>